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各位老师好，我是[请填写姓名]，我的课程项目是“红蓝对抗平台”。这个项目旨在构建一个面向AI Agent安全评测的自动化测试平台。接下来，我将从项目背景、系统架构、核心实现和成果总结四个方面进行汇报。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项目背景。大模型和智能体的普及带来了巨大的便利，但同时也暴露了新的安全风险。例如，攻击者可以通过“提示注入”攻击，让模型执行意想不到的操作，或者诱导它输出敏感信息。传统的测试方法很难模拟这种动态的攻防对抗。因此，我的项目目标就是构建一个自动化的红蓝对抗平台，来系统性地评测AI Agent的安全性。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介绍系统的核心业务流程。整个流程从用户创建任务开始。红队首先加载或生成攻击样本，然后对目标Agent发起攻击。蓝队在攻击的三个关键节点——输入、工具调用和输出——进行检测。所有结果都会被记录到数据库中，并最终生成评估报告，实时推送给前端。特别地，如果攻击失败，系统还支持红队进行多轮进化，不断尝试新的攻击方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总体架构。整个系统采用前后端分离的设计。前端是一个Vue工作台，提供友好的用户界面。后端基于FastAPI，是系统的核心，包含了编排器、红队模块、蓝队模块和评估模块。数据层使用SQLite进行本地数据持久化，数据集层则依赖于RedBench本地数据集。各个模块分工明确，协同工作，共同完成评测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核心实现是红队的攻击规划与进化机制。这也是我们项目的一大亮点。红队不仅能从数据集加载攻击样本，还能自己生成。更重要的是，它支持演化式攻击。也就是说，当一次攻击失败后，系统不会简单地放弃，而是会分析失败原因，对攻击指令进行“突变”，然后发起新一轮攻击。这种持续进化的能力，使得我们的平台能够模拟更真实、更智能的攻击者，从而更有效地检验防御系统的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第二个核心实现是蓝队的三阶段防御链。这借鉴了实际安全防护中的纵深防御思想。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第一层是输入检测，在Agent看到输入之前就进行过滤，这是第一道防线，主要针对Prompt注入等攻击。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第二层是工具调用审计，这是非常关键的一环，监控Agent是否试图调用危险工具，防止它越权操作或破坏系统。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第三层是输出检测，在内容返回给用户前进行最后把关，防止敏感信息泄露或输出不当内容。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这三道防线层层递进，形成了一个完整的防御闭环，有效提升了Agent的安全性。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核心实现是任务编排与异步执行。为了保证系统的高效和稳定，我设计了一套基于状态机的任务管理机制。每个任务都有明确的状态，状态的转换驱动着整个流程的进行。同时，所有耗时的任务都由后台线程异步执行，这大大提高了系统的响应速度和并发能力。核心的编排器负责串联所有模块，并处理攻击进化带来的新任务，确保整个评测流程能够自动化、闭环地运行。这部分工作集中体现了我在流程设计和异步编程方面的努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进行一个简短的功能演示。首先，我会展示如何创建一个评测任务。然后启动任务，大家可以看到前端实时刷新的任务进度。最后，我会展示任务完成后，系统生成的详细攻击案例、检测结果和最终的评估报告。通过这个演示，大家可以直观地感受整个平台的功能和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开发过程中，我遇到了几个主要的技术难点。第一个难点是如何将红队、蓝队等多个模块串联成一个统一的流程。我的解决方案是设计一个编排器，作为中央大脑来调度整个流程。第二个难点是如何实现多轮攻击进化。我通过设计一种“突变任务”机制，让失败的攻击能够异步地重新进入任务队列，实现了攻击的持续进化。第三个难点是实时通信，我采用了WebSocket技术，实现了后端向前端的主动消息推送。这些都是我独立思考并解决的关键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总结一下，我的项目完成了一个面向AI Agent安全评测的红蓝对抗平台原型，核心功能均已实现，主链路已经打通。当然，项目还有很多可以改进的地方，比如优化算法、扩展平台功能等。我的汇报到此结束，感谢各位老师的聆听，欢迎提问。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3" Type="http://schemas.openxmlformats.org/officeDocument/2006/relationships/notesSlide" Target="../notesSlides/notesSlide5.xml"/><Relationship Id="rId32" Type="http://schemas.openxmlformats.org/officeDocument/2006/relationships/slideLayout" Target="../slideLayouts/slideLayout12.xml"/><Relationship Id="rId31" Type="http://schemas.openxmlformats.org/officeDocument/2006/relationships/image" Target="../media/image32.jpeg"/><Relationship Id="rId30" Type="http://schemas.openxmlformats.org/officeDocument/2006/relationships/tags" Target="../tags/tag20.xml"/><Relationship Id="rId3" Type="http://schemas.openxmlformats.org/officeDocument/2006/relationships/tags" Target="../tags/tag1.xml"/><Relationship Id="rId29" Type="http://schemas.openxmlformats.org/officeDocument/2006/relationships/tags" Target="../tags/tag19.xml"/><Relationship Id="rId28" Type="http://schemas.openxmlformats.org/officeDocument/2006/relationships/image" Target="../media/image31.svg"/><Relationship Id="rId27" Type="http://schemas.openxmlformats.org/officeDocument/2006/relationships/image" Target="../media/image30.png"/><Relationship Id="rId26" Type="http://schemas.openxmlformats.org/officeDocument/2006/relationships/tags" Target="../tags/tag18.xml"/><Relationship Id="rId25" Type="http://schemas.openxmlformats.org/officeDocument/2006/relationships/tags" Target="../tags/tag17.xml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tags" Target="../tags/tag14.xml"/><Relationship Id="rId21" Type="http://schemas.openxmlformats.org/officeDocument/2006/relationships/image" Target="../media/image29.svg"/><Relationship Id="rId20" Type="http://schemas.openxmlformats.org/officeDocument/2006/relationships/image" Target="../media/image28.png"/><Relationship Id="rId2" Type="http://schemas.openxmlformats.org/officeDocument/2006/relationships/image" Target="../media/image23.svg"/><Relationship Id="rId19" Type="http://schemas.openxmlformats.org/officeDocument/2006/relationships/tags" Target="../tags/tag13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image" Target="../media/image27.svg"/><Relationship Id="rId13" Type="http://schemas.openxmlformats.org/officeDocument/2006/relationships/image" Target="../media/image26.png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39.svg"/><Relationship Id="rId7" Type="http://schemas.openxmlformats.org/officeDocument/2006/relationships/image" Target="../media/image38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35.svg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3.svg"/><Relationship Id="rId11" Type="http://schemas.openxmlformats.org/officeDocument/2006/relationships/image" Target="../media/image42.png"/><Relationship Id="rId10" Type="http://schemas.openxmlformats.org/officeDocument/2006/relationships/image" Target="../media/image41.svg"/><Relationship Id="rId1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016000"/>
            <a:ext cx="3810000" cy="3810000"/>
          </a:xfrm>
          <a:prstGeom prst="ellipse">
            <a:avLst/>
          </a:prstGeom>
          <a:solidFill>
            <a:srgbClr val="CC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711200"/>
            <a:ext cx="1076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红蓝对抗平台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8415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 安全评测系统设计与实现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00" y="2819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43000" y="2794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课程名称：软件工程 / 人工智能课程综合实践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200" y="35179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3492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答辩人：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刘颖良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 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柯涵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| 专业：计算机科学与技术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200" y="4216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143000" y="4191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班级：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班</a:t>
            </a:r>
            <a:endParaRPr lang="zh-CN" altLang="en-US" sz="16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200" y="49149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143000" y="4889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指导教师：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秦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勇</a:t>
            </a:r>
            <a:endParaRPr lang="zh-CN" altLang="en-US" sz="16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2984500"/>
            <a:ext cx="254000" cy="254000"/>
          </a:xfrm>
          <a:prstGeom prst="rect">
            <a:avLst/>
          </a:prstGeom>
        </p:spPr>
      </p:pic>
      <p:cxnSp>
        <p:nvCxnSpPr>
          <p:cNvPr id="15" name="Connector 15"/>
          <p:cNvCxnSpPr/>
          <p:nvPr/>
        </p:nvCxnSpPr>
        <p:spPr>
          <a:xfrm rot="-4053">
            <a:off x="711204" y="55181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711200" y="5778500"/>
            <a:ext cx="1968500" cy="508000"/>
          </a:xfrm>
          <a:prstGeom prst="roundRect">
            <a:avLst>
              <a:gd name="adj" fmla="val 0"/>
            </a:avLst>
          </a:prstGeom>
          <a:solidFill>
            <a:srgbClr val="CC0000">
              <a:alpha val="6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11200" y="58801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 安全评测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806700" y="5778500"/>
            <a:ext cx="1968500" cy="508000"/>
          </a:xfrm>
          <a:prstGeom prst="roundRect">
            <a:avLst>
              <a:gd name="adj" fmla="val 0"/>
            </a:avLst>
          </a:prstGeom>
          <a:solidFill>
            <a:srgbClr val="CC0000">
              <a:alpha val="6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2806700" y="58801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红队自动化攻击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902200" y="5778500"/>
            <a:ext cx="1968500" cy="508000"/>
          </a:xfrm>
          <a:prstGeom prst="roundRect">
            <a:avLst>
              <a:gd name="adj" fmla="val 0"/>
            </a:avLst>
          </a:prstGeom>
          <a:solidFill>
            <a:srgbClr val="CC0000">
              <a:alpha val="6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902200" y="58801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蓝队智能防御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97700" y="5778500"/>
            <a:ext cx="1968500" cy="508000"/>
          </a:xfrm>
          <a:prstGeom prst="roundRect">
            <a:avLst>
              <a:gd name="adj" fmla="val 0"/>
            </a:avLst>
          </a:prstGeom>
          <a:solidFill>
            <a:srgbClr val="CC0000">
              <a:alpha val="6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997700" y="58801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全链路实时审计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093200" y="5778500"/>
            <a:ext cx="1968500" cy="508000"/>
          </a:xfrm>
          <a:prstGeom prst="roundRect">
            <a:avLst>
              <a:gd name="adj" fmla="val 0"/>
            </a:avLst>
          </a:prstGeom>
          <a:solidFill>
            <a:srgbClr val="CC0000">
              <a:alpha val="6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093200" y="58801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自动化评估报告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9112" y="1913986"/>
            <a:ext cx="6628865" cy="342372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项目背景与问题定义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524000"/>
            <a:ext cx="558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安全新挑战：传统防御体系的失效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20955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随着大模型（LLM）与智能体（AI Agent）的普及，传统静态安全边界被打破，模型具备了主动交互与工具使用能力，新的对抗性风险呈指数级涌现。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2857500"/>
            <a:ext cx="5588000" cy="7874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3022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20800" y="29464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提示注入 (Prompt Injection)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攻击者构造恶意输入诱导模型忽略原指令，执行非授权操作，突破指令跟随限制。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11200" y="3771900"/>
            <a:ext cx="5588000" cy="7874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600" y="3937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20800" y="38608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敏感信息泄露与违规输出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模型被诱骗输出训练数据中的隐私信息、生成有害内容，或编造虚假事实误导用户。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11200" y="4686300"/>
            <a:ext cx="5588000" cy="7874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3600" y="4851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20800" y="47752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危险工具链与环境调用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智能体被操控调用破坏性外部工具（如系统命令、网络请求），引发供应链攻击或物理世界破坏。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11200" y="5651500"/>
            <a:ext cx="5588000" cy="698500"/>
          </a:xfrm>
          <a:prstGeom prst="roundRect">
            <a:avLst>
              <a:gd name="adj" fmla="val 0"/>
            </a:avLst>
          </a:prstGeom>
          <a:solidFill>
            <a:srgbClr val="EBE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63600" y="5753100"/>
            <a:ext cx="528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测试困境：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传统的静态审计与单次功能测试，无法覆盖Agent动态交互、多轮博弈的复杂对抗场景，导致潜在漏洞难以被提前发现。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76870" y="1558925"/>
            <a:ext cx="2301875" cy="2301875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604000" y="4572000"/>
            <a:ext cx="4876800" cy="1778000"/>
          </a:xfrm>
          <a:prstGeom prst="roundRect">
            <a:avLst>
              <a:gd name="adj" fmla="val 0"/>
            </a:avLst>
          </a:prstGeom>
          <a:solidFill>
            <a:srgbClr val="CC0000">
              <a:alpha val="6000"/>
            </a:srgbClr>
          </a:solidFill>
          <a:ln w="12700" cap="flat" cmpd="sng">
            <a:solidFill>
              <a:srgbClr val="CC0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807200" y="4775200"/>
            <a:ext cx="447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核心目标：构建红蓝对抗闭环评测平台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07200" y="5283200"/>
            <a:ext cx="4470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针对现有测试手段的局限性，本项目旨在打造一个自动化、高仿真的**攻防演练场**。通过模拟真实世界的攻击策略与动态博弈过程，系统性地评估智能体的防御能力，从而为AI应用的安全加固提供量化依据。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CC0000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系统核心业务流程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524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12700" cap="flat" cmpd="sng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1200" y="1524000"/>
            <a:ext cx="50800" cy="1714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16510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任务配置创建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用户通过前端可视化界面提交评测任务，自定义攻击目标、评测维度及迭代参数，形成标准化的任务指令。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81500" y="1524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12700" cap="flat" cmpd="sng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381500" y="1524000"/>
            <a:ext cx="50800" cy="1714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59300" y="16510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攻击样本构建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红队引擎从预置对抗样本库加载基础Prompt，或基于目标特性动态生成针对性的攻击指令与测试用例。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051800" y="1524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12700" cap="flat" cmpd="sng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051800" y="1524000"/>
            <a:ext cx="50800" cy="1714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229600" y="16510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红队对抗执行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将构造好的攻击Prompt注入目标AI Agent，触发模型的思考与响应生成过程，执行实际的安全对抗测试。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11200" y="3492500"/>
            <a:ext cx="10769600" cy="1397000"/>
          </a:xfrm>
          <a:prstGeom prst="roundRect">
            <a:avLst>
              <a:gd name="adj" fmla="val 0"/>
            </a:avLst>
          </a:prstGeom>
          <a:solidFill>
            <a:srgbClr val="CC0000">
              <a:alpha val="6000"/>
            </a:srgbClr>
          </a:solidFill>
          <a:ln w="12700" cap="flat" cmpd="sng">
            <a:solidFill>
              <a:srgbClr val="CC0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89000" y="36195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蓝队</a:t>
            </a:r>
            <a:b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全链路防御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59557">
            <a:off x="2508250" y="4152937"/>
            <a:ext cx="107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3238500" y="36195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输入侧：前置拦截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500"/>
              </a:spcBef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在Agent处理前对输入Prompt进行语义分析，识别并阻断恶意指令、越狱提示及敏感诱导内容。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778500" y="3619500"/>
            <a:ext cx="260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过程侧：工具审计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500"/>
              </a:spcBef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实时监控Agent对外部工具的调用行为，校验调用权限、参数合法性及操作风险，防止越权访问。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470900" y="36195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输出侧：合规校验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500"/>
              </a:spcBef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对Agent的最终生成结果进行安全扫描，过滤敏感信息、不当内容及可能的隐私泄露风险。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11200" y="51435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12700" cap="flat" cmpd="sng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11200" y="514350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89000" y="52705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全量数据落库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500"/>
              </a:spcBef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将攻击日志、检测告警、工具调用记录及防御结果等全量数据持久化存储，形成可追溯的评测档案。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381500" y="51435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12700" cap="flat" cmpd="sng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4381500" y="514350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4559300" y="52705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报告生成与推送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500"/>
              </a:spcBef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自动生成多维度安全评估报告，通过WebSocket协议将结果实时推送到前端，实现数据可视化展示。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051800" y="51435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12700" cap="flat" cmpd="sng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051800" y="514350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229600" y="52705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智能迭代进化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500"/>
              </a:spcBef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若攻击未达成目标，红队自动对Prompt进行变异优化，发起多轮自适应攻击，持续挖掘潜在风险。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65" y="0"/>
            <a:ext cx="11279505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950"/>
            <a:ext cx="12192000" cy="63874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CC0000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系统总体架构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2120" y="1160780"/>
            <a:ext cx="5925185" cy="5279390"/>
          </a:xfrm>
          <a:prstGeom prst="roundRect">
            <a:avLst>
              <a:gd name="adj" fmla="val 1062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145415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635271" y="57785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6635271" y="57785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6571" y="76835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7321071" y="76835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前端交互层 (Frontend)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6876571" y="118745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基于Vue.js开发的工作台，承载用户交互、任务全周期管理与结果可视化，提供直观的操作界面与实时状态反馈。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6635271" y="20574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6635271" y="205740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76571" y="22479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7321071" y="22479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后端核心层 (Backend)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6876571" y="26670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FastAPI驱动的业务中枢，集成编排器调度流程，红队生成进化攻击样本，蓝队执行多阶段防御检测，评估模块智能生成分析报告。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6635271" y="35814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6635271" y="358140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76571" y="37719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7321071" y="37719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数据持久层 (Data Layer)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23"/>
            </p:custDataLst>
          </p:nvPr>
        </p:nvSpPr>
        <p:spPr>
          <a:xfrm>
            <a:off x="6876571" y="41910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采用SQLite轻量数据库结合SQLAlchemy ORM，高效存储任务配置、攻击特征库、检测日志及最终评估结果，保障数据一致性。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4"/>
            </p:custDataLst>
          </p:nvPr>
        </p:nvSpPr>
        <p:spPr>
          <a:xfrm>
            <a:off x="6660671" y="5143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5"/>
            </p:custDataLst>
          </p:nvPr>
        </p:nvSpPr>
        <p:spPr>
          <a:xfrm>
            <a:off x="6660671" y="514350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901971" y="5334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29"/>
            </p:custDataLst>
          </p:nvPr>
        </p:nvSpPr>
        <p:spPr>
          <a:xfrm>
            <a:off x="7346471" y="5334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样本支撑层 (Dataset Layer)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30"/>
            </p:custDataLst>
          </p:nvPr>
        </p:nvSpPr>
        <p:spPr>
          <a:xfrm>
            <a:off x="6901971" y="57531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内置本地RedBench专用数据集，涵盖多样化攻击样本与场景配置，为攻防对抗与模型评测提供标准化的样本来源与基准。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22300" y="1911350"/>
            <a:ext cx="5633720" cy="327152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90" y="0"/>
            <a:ext cx="106502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08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技术选型与实现栈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460500"/>
            <a:ext cx="5080000" cy="2184590"/>
          </a:xfrm>
          <a:prstGeom prst="roundRect">
            <a:avLst>
              <a:gd name="adj" fmla="val 9301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03200" rIns="254000" bIns="20320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前端技术选型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Vue 3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：构建项目主界面，组件化开发效率高，适配任务工作台场景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TypeScript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：增强类型约束，提升前端代码可维护性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Vite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：开发启动快，构建效率高；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·Pinia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：管理任务状态与页面数据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WebSocket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：实现任务执行过程的实时推送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994400" y="1460500"/>
            <a:ext cx="5080000" cy="2184590"/>
          </a:xfrm>
          <a:prstGeom prst="roundRect">
            <a:avLst>
              <a:gd name="adj" fmla="val 9301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03200" rIns="254000" bIns="20320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后端技术选型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FastAPI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：接口开发效率高，适配任务管理与流式接口构建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：便于模型调用、数据处理与安全策略编排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Threading / 异步执行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：支撑任务后台运行与多轮攻击流程处理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09600" y="3847910"/>
            <a:ext cx="5080000" cy="1778000"/>
          </a:xfrm>
          <a:prstGeom prst="roundRect">
            <a:avLst>
              <a:gd name="adj" fmla="val 11428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03200" rIns="254000" bIns="20320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数据与持久化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SQLite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：课程项目本地数据库，部署简单、便于演示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SQLAlchemy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：实现任务、样本、检测结果等数据的结构化存储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994400" y="3847910"/>
            <a:ext cx="5080000" cy="1778000"/>
          </a:xfrm>
          <a:prstGeom prst="roundRect">
            <a:avLst>
              <a:gd name="adj" fmla="val 11428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03200" rIns="254000" bIns="20320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红蓝对抗与评估相关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RedBench 数据集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：提供本地攻击样本来源与评估基线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调用模块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：用于红队攻击生成与攻击突变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蓝队检测器 / 工具审计器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：实现输入、调用、输出三阶段防御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自定义编排器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：串联任务状态、攻击执行、防御决策和评估流程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09600" y="5768075"/>
            <a:ext cx="10464800" cy="889000"/>
          </a:xfrm>
          <a:prstGeom prst="roundRect">
            <a:avLst>
              <a:gd name="adj" fmla="val 22857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152400" rIns="254000" bIns="1524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模型调用：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dolphin-mistral:latest（红队进攻模型）qwen3:1.7b（目标智能体模型）gemma2:2b（蓝队智能体模型）deepseek-v4-flash（评估智能体模型）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CC0000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2540000" cy="2540000"/>
          </a:xfrm>
          <a:prstGeom prst="ellipse">
            <a:avLst/>
          </a:prstGeom>
          <a:solidFill>
            <a:srgbClr val="CC0000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核心实现一：红队攻击规划与进化机制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524000"/>
            <a:ext cx="533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攻击样本的双重供给机制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20955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286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2225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静态数据集加载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集成RedBench等权威红队测试集，快速导入高置信度的成熟Prompt样本，构建标准化的初始攻击弹药库，确保测试基准的专业性。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11200" y="3302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492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4290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大模型动态生成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基于少样本学习与思维链技术，利用基座大模型自主生成多样化、场景化的攻击变种，自动补充长尾攻击场景，解决样本覆盖盲区。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11200" y="4572000"/>
            <a:ext cx="533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演化式攻击的闭环逻辑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1200" y="5143500"/>
            <a:ext cx="1714500" cy="12700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12700" cap="flat" cmpd="sng">
            <a:solidFill>
              <a:srgbClr val="CC0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" y="52705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143000" y="5270500"/>
            <a:ext cx="1206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归因分析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" y="56515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解析拦截日志，精准定位被防御系统识别的语义特征与触发关键词。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540000" y="5143500"/>
            <a:ext cx="1714500" cy="12700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12700" cap="flat" cmpd="sng">
            <a:solidFill>
              <a:srgbClr val="CC0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67000" y="5270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971800" y="5270500"/>
            <a:ext cx="1206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智能突变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667000" y="56515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通过同义替换、句式重构、角色伪装，生成特征规避的等价攻击Prompt。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368800" y="5143500"/>
            <a:ext cx="1714500" cy="12700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12700" cap="flat" cmpd="sng">
            <a:solidFill>
              <a:srgbClr val="CC0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95800" y="52705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800600" y="5270500"/>
            <a:ext cx="1206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闭环迭代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495800" y="56515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新变种加入攻击队列，发起多轮次攻击，持续挖掘防御盲区。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95895" y="2085975"/>
            <a:ext cx="2191385" cy="2191385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350000" y="5016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CC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540500" y="51435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技术价值：模拟“自适应攻击者”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传统红队测试依赖静态样本，易被防御规则针对。本机制赋予红队“学习与进化”能力，能够动态绕过基于特征的防护，真实还原高级持续性威胁（APT）的攻击路径，有效发现AI Agent中隐蔽性极强的深层逻辑漏洞。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6415" y="358775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核心实现一：红队攻击规划与进化机制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2267" y="1334588"/>
            <a:ext cx="6997700" cy="3771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100" b="1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def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100" b="1" i="0" u="none" strike="noStrike">
                <a:solidFill>
                  <a:srgbClr val="CE670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build_mutation_task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</a:t>
            </a:r>
            <a:endParaRPr lang="en-US" sz="1100" b="1"/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100" b="1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</a:t>
            </a:r>
            <a:endParaRPr lang="en-US" sz="1100" b="1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100" b="1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attack_case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AttackCaseState,</a:t>
            </a:r>
            <a:endParaRPr lang="en-US" sz="1100" b="1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100" b="1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outcome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RoundResultState,</a:t>
            </a:r>
            <a:endParaRPr lang="en-US" sz="1100" b="1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100" b="1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next_round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100" b="1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int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</a:t>
            </a:r>
            <a:endParaRPr lang="en-US" sz="1100" b="1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) -&gt; </a:t>
            </a:r>
            <a:r>
              <a:rPr lang="en-US" sz="1100" b="1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dict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</a:t>
            </a:r>
            <a:endParaRPr lang="en-US" sz="1100" b="1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strategy </a:t>
            </a:r>
            <a:r>
              <a:rPr lang="en-US" sz="1100" b="1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_choose_strategy(outcome)</a:t>
            </a:r>
            <a:endParaRPr lang="en-US" sz="1100" b="1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100" b="1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return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{</a:t>
            </a:r>
            <a:endParaRPr lang="en-US" sz="1100" b="1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100" b="1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"parent_case"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100" b="1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dict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(attack_case),</a:t>
            </a:r>
            <a:endParaRPr lang="en-US" sz="1100" b="1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100" b="1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"outcome"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100" b="1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dict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(outcome),</a:t>
            </a:r>
            <a:endParaRPr lang="en-US" sz="1100" b="1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100" b="1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"next_round"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next_round,</a:t>
            </a:r>
            <a:endParaRPr lang="en-US" sz="1100" b="1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100" b="1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"mutation_strategy"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strategy,</a:t>
            </a:r>
            <a:endParaRPr lang="en-US" sz="1100" b="1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}</a:t>
            </a:r>
            <a:r>
              <a:rPr lang="en-US" sz="11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
</a:t>
            </a:r>
            <a:endParaRPr lang="en-US" sz="11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</a:t>
            </a:r>
            <a:r>
              <a:rPr lang="en-US" sz="1100" b="1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def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100" b="1" i="0" u="none" strike="noStrike">
                <a:solidFill>
                  <a:srgbClr val="CE670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run_mutation_task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</a:t>
            </a:r>
            <a:r>
              <a:rPr lang="en-US" sz="1100" b="1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100" b="1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mutation_task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100" b="1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dict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100" b="1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model_name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100" b="1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str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 -&gt; AttackCaseState:</a:t>
            </a:r>
            <a:endParaRPr lang="en-US" sz="1100" b="1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100" b="1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return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asyncio.run(</a:t>
            </a:r>
            <a:r>
              <a:rPr lang="en-US" sz="1100" b="1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100" b="1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.mutate_attack_async(mutation_task, model_name))</a:t>
            </a:r>
            <a:r>
              <a:rPr lang="en-US" sz="11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
</a:t>
            </a:r>
            <a:endParaRPr lang="en-US" sz="11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25000"/>
              </a:lnSpc>
            </a:pPr>
            <a:endParaRPr b="1"/>
          </a:p>
        </p:txBody>
      </p:sp>
      <p:sp>
        <p:nvSpPr>
          <p:cNvPr id="4" name="AutoShape 4"/>
          <p:cNvSpPr/>
          <p:nvPr/>
        </p:nvSpPr>
        <p:spPr>
          <a:xfrm>
            <a:off x="5461000" y="1120503"/>
            <a:ext cx="6731000" cy="666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>
            <a:lvl2pPr marL="457200" indent="0"/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</a:t>
            </a:r>
            <a:r>
              <a:rPr lang="en-US" sz="105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async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05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def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050" b="0" i="0" u="none" strike="noStrike">
                <a:solidFill>
                  <a:srgbClr val="CE670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mutate_attack_async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</a:t>
            </a:r>
            <a:r>
              <a:rPr lang="en-US" sz="105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05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mutation_task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05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dict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05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model_name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05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str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 -&gt; AttackCaseState: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attack_case </a:t>
            </a:r>
            <a:r>
              <a:rPr lang="en-US" sz="105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05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dict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(mutation_task[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"parent_case"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])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outcome </a:t>
            </a:r>
            <a:r>
              <a:rPr lang="en-US" sz="105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05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dict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(mutation_task[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"outcome"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])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strategy </a:t>
            </a:r>
            <a:r>
              <a:rPr lang="en-US" sz="105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05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str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(mutation_task[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"mutation_strategy"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])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next_round </a:t>
            </a:r>
            <a:r>
              <a:rPr lang="en-US" sz="105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05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int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(mutation_task[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"next_round"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])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prompt </a:t>
            </a:r>
            <a:r>
              <a:rPr lang="en-US" sz="105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05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await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05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._rewrite_payload_with_llm(attack_case, outcome, strategy, model_name)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metadata </a:t>
            </a:r>
            <a:r>
              <a:rPr lang="en-US" sz="105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05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dict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(attack_case.get(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"metadata"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 </a:t>
            </a:r>
            <a:r>
              <a:rPr lang="en-US" sz="105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or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{})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previous_count </a:t>
            </a:r>
            <a:r>
              <a:rPr lang="en-US" sz="105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05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int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(metadata.get(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"mutation_count"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05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max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</a:t>
            </a:r>
            <a:r>
              <a:rPr lang="en-US" sz="105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0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05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int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(attack_case.get(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"round_no"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05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1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)) </a:t>
            </a:r>
            <a:r>
              <a:rPr lang="en-US" sz="105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-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05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1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)))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metadata.update(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{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"parent_reason"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outcome.get(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"reason"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"previous_stage"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outcome.get(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"stage"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"redteam_hint"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outcome.get(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"redteam_hint"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"model_name"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model_name,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"source"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"llm_mutation"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"mutation_count"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previous_count </a:t>
            </a:r>
            <a:r>
              <a:rPr lang="en-US" sz="105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+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05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1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}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)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05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return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{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"id"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05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f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"case_</a:t>
            </a:r>
            <a:r>
              <a:rPr lang="en-US" sz="1050" b="0" i="0" u="none" strike="noStrike">
                <a:solidFill>
                  <a:srgbClr val="8080FF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{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uuid4().hex[:</a:t>
            </a:r>
            <a:r>
              <a:rPr lang="en-US" sz="105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12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]</a:t>
            </a:r>
            <a:r>
              <a:rPr lang="en-US" sz="1050" b="0" i="0" u="none" strike="noStrike">
                <a:solidFill>
                  <a:srgbClr val="8080FF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}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"risk_chain_id"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attack_case.get(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"risk_chain_id"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05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f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"chain_</a:t>
            </a:r>
            <a:r>
              <a:rPr lang="en-US" sz="1050" b="0" i="0" u="none" strike="noStrike">
                <a:solidFill>
                  <a:srgbClr val="8080FF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{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attack_case.get(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'risk_type'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'unknown'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).lower()</a:t>
            </a:r>
            <a:r>
              <a:rPr lang="en-US" sz="1050" b="0" i="0" u="none" strike="noStrike">
                <a:solidFill>
                  <a:srgbClr val="8080FF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}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"round_no"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next_round,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"skill_id"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attack_case.get(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"skill_id"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"prompt_injection"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"risk_type"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attack_case.get(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"risk_type"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"UNKNOWN"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"target_agent"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attack_case.get(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"target_agent"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"unknown"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"prompt"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prompt,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"expected_violation"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attack_case.get(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"expected_violation"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"runtime_mutation"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"severity"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attack_case.get(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"severity"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outcome.get(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"risk_level"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 </a:t>
            </a:r>
            <a:r>
              <a:rPr lang="en-US" sz="105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or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"medium"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"parent_case_id"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attack_case.get(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"id"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"mutation_strategy"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strategy,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05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"metadata"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metadata,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457200" lvl="1" indent="0" algn="l">
              <a:lnSpc>
                <a:spcPct val="125000"/>
              </a:lnSpc>
            </a:pPr>
            <a:r>
              <a:rPr lang="en-US" sz="1295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en-US" sz="105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}</a:t>
            </a:r>
            <a:endParaRPr lang="en-US" sz="105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CC0000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核心实现二：蓝队三阶段防御链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651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12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14400" y="1905000"/>
            <a:ext cx="30226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输入检测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444">
            <a:off x="914413" y="2432050"/>
            <a:ext cx="302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14400" y="2603500"/>
            <a:ext cx="3022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触发时机：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Agent接收用户指令的前置环节，在模型开始推理前进行第一道拦截。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14400" y="3429000"/>
            <a:ext cx="3022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防御目标：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识别并阻断Prompt注入、诱导性提问、角色劫持等针对模型的恶意输入攻击。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14400" y="4254500"/>
            <a:ext cx="3022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核心手段：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关键词黑白名单过滤、语义情感分析、轻量级判别模型识别攻击意图。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1651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84700" y="1905000"/>
            <a:ext cx="30226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工具调用审计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444">
            <a:off x="4584713" y="2432050"/>
            <a:ext cx="302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84700" y="2603500"/>
            <a:ext cx="3022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触发时机：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Agent决策调用外部插件或系统命令的执行入口处，是权限管控的核心节点。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84700" y="3429000"/>
            <a:ext cx="3022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防御目标：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防止越权调用高危指令（如exec/rm）、访问敏感数据或进行未授权的系统操作。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84700" y="4254500"/>
            <a:ext cx="3022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核心手段：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工具调用白名单机制、危险操作实时阻断策略。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51800" y="1651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0518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255000" y="1905000"/>
            <a:ext cx="30226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输出检测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444">
            <a:off x="8255013" y="2432050"/>
            <a:ext cx="302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255000" y="2603500"/>
            <a:ext cx="3022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触发时机：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Agent生成最终响应文本后，向用户展示前的最后一道安全关卡。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55000" y="3429000"/>
            <a:ext cx="3022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防御目标：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过滤输出中的敏感信息、隐私数据、不当言论及违背业务规范的内容。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55000" y="4254500"/>
            <a:ext cx="3022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核心手段：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预置合规词库过滤、大模型内容审核API、上下文关联的语义合规校验。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1200" y="5207000"/>
            <a:ext cx="10769600" cy="1143000"/>
          </a:xfrm>
          <a:prstGeom prst="roundRect">
            <a:avLst>
              <a:gd name="adj" fmla="val 0"/>
            </a:avLst>
          </a:prstGeom>
          <a:solidFill>
            <a:srgbClr val="CC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11200" y="5207000"/>
            <a:ext cx="76200" cy="11430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016000" y="53975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防御闭环：全链路风险管控体系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16000" y="57785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通过“输入过滤→过程审计→输出审核”的三层纵深防御，构建起AI Agent的安全防护闭环。不仅实现对恶意输入的前置拦截，更对Agent的工具调用行为进行严格管控，最终确保输出内容的安全合规，全方位抵御针对智能体的各类攻击与风险渗透。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1790" y="286385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核心实现二：蓝队三阶段防御链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51698" y="1147445"/>
            <a:ext cx="6731000" cy="13131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class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9B000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BlueTeamCommander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</a:t>
            </a:r>
            <a:r>
              <a:rPr lang="en-US" sz="130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def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__init__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policy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BluePolicy 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|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40808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None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40808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None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user_role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30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str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"guest"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slow_path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SlowPathBus 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|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40808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None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40808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None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model_name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30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str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|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40808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None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40808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None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 -&gt; </a:t>
            </a:r>
            <a:r>
              <a:rPr lang="en-US" sz="1300" b="0" i="0" u="none" strike="noStrike">
                <a:solidFill>
                  <a:srgbClr val="40808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None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.policy 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policy 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or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load_blue_policy()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.slow_path 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slow_path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.model_name 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model_name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.tool_auditor 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ToolAuditor(</a:t>
            </a:r>
            <a:r>
              <a:rPr lang="en-US" sz="130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.policy, 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user_role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user_role, 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model_name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model_name)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.input_detector 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InputDetector(</a:t>
            </a:r>
            <a:r>
              <a:rPr lang="en-US" sz="130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.policy, 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use_model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40808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True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model_name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model_name, 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slow_path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slow_path)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.output_detector 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OutputDetector(</a:t>
            </a:r>
            <a:r>
              <a:rPr lang="en-US" sz="130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.policy, 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use_model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40808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True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model_name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model_name, 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slow_path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slow_path)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
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</a:t>
            </a:r>
            <a:r>
              <a:rPr lang="en-US" sz="130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def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CE670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inspect_input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payload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30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dict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 -&gt; DetectionResult: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return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asyncio.run(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30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.input_detector.detect_input(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    payload,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    EventContext(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task_id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str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(payload.get(</a:t>
            </a:r>
            <a:r>
              <a:rPr lang="en-US" sz="130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"task_id"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 </a:t>
            </a:r>
            <a:r>
              <a:rPr lang="en-US" sz="130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or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"task"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), </a:t>
            </a:r>
            <a:r>
              <a:rPr lang="en-US" sz="1300" b="0" i="0" u="none" strike="noStrike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trace_id</a:t>
            </a:r>
            <a:r>
              <a:rPr lang="en-US" sz="1300" b="0" i="0" u="none" strike="noStrike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 b="0" i="0" u="none" strike="noStrike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str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(payload.get(</a:t>
            </a:r>
            <a:r>
              <a:rPr lang="en-US" sz="130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"trace_id"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 </a:t>
            </a:r>
            <a:r>
              <a:rPr lang="en-US" sz="1300" b="0" i="0" u="none" strike="noStrike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or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 b="0" i="0" u="none" strike="noStrike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"trace"</a:t>
            </a: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)),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)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)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
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   )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)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77000" y="286385"/>
            <a:ext cx="6096000" cy="6458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def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>
                <a:solidFill>
                  <a:srgbClr val="CE670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audit_tool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task_id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300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str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attack_case_id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300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str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trace_id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300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str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caller_agent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300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str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tool_call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ToolCallPlan </a:t>
            </a:r>
            <a:r>
              <a:rPr lang="en-US" sz="1300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|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>
                <a:solidFill>
                  <a:srgbClr val="40808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None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prompt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300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str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) -&gt; ToolAuditRecord: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return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.tool_auditor.audit_tool_call(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task_id</a:t>
            </a:r>
            <a:r>
              <a:rPr lang="en-US" sz="1300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task_id,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attack_case_id</a:t>
            </a:r>
            <a:r>
              <a:rPr lang="en-US" sz="1300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attack_case_id,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trace_id</a:t>
            </a:r>
            <a:r>
              <a:rPr lang="en-US" sz="1300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trace_id,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caller_agent</a:t>
            </a:r>
            <a:r>
              <a:rPr lang="en-US" sz="1300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caller_agent,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tool_call</a:t>
            </a:r>
            <a:r>
              <a:rPr lang="en-US" sz="1300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tool_call,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prompt</a:t>
            </a:r>
            <a:r>
              <a:rPr lang="en-US" sz="1300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prompt,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)</a:t>
            </a:r>
            <a:r>
              <a:rPr lang="en-US" sz="160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
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</a:t>
            </a:r>
            <a:r>
              <a:rPr lang="en-US" sz="1300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def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>
                <a:solidFill>
                  <a:srgbClr val="CE6700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inspect_output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, 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payload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: </a:t>
            </a:r>
            <a:r>
              <a:rPr lang="en-US" sz="1300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dict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 -&gt; DetectionResult: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</a:t>
            </a:r>
            <a:r>
              <a:rPr lang="en-US" sz="1300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return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asyncio.run(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</a:t>
            </a:r>
            <a:r>
              <a:rPr lang="en-US" sz="1300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self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.output_detector.detect_output(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    payload,</a:t>
            </a:r>
            <a:endParaRPr lang="en-US" sz="1300" b="0" i="0" u="none" strike="noStrike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               EventContext(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task_id</a:t>
            </a:r>
            <a:r>
              <a:rPr lang="en-US" sz="1300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str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(payload.get(</a:t>
            </a:r>
            <a:r>
              <a:rPr lang="en-US" sz="1300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"task_id"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 </a:t>
            </a:r>
            <a:r>
              <a:rPr lang="en-US" sz="1300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or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"task"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), </a:t>
            </a:r>
            <a:r>
              <a:rPr lang="en-US" sz="1300">
                <a:solidFill>
                  <a:srgbClr val="6089B4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trace_id</a:t>
            </a:r>
            <a:r>
              <a:rPr lang="en-US" sz="1300">
                <a:solidFill>
                  <a:srgbClr val="676867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=</a:t>
            </a:r>
            <a:r>
              <a:rPr lang="en-US" sz="1300">
                <a:solidFill>
                  <a:srgbClr val="C7444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str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(payload.get(</a:t>
            </a:r>
            <a:r>
              <a:rPr lang="en-US" sz="1300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"trace_id"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 </a:t>
            </a:r>
            <a:r>
              <a:rPr lang="en-US" sz="1300">
                <a:solidFill>
                  <a:srgbClr val="9872A2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or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 </a:t>
            </a:r>
            <a:r>
              <a:rPr lang="en-US" sz="1300">
                <a:solidFill>
                  <a:srgbClr val="9AA83A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"trace"</a:t>
            </a:r>
            <a:r>
              <a:rPr lang="en-US" sz="1300">
                <a:solidFill>
                  <a:srgbClr val="C5C8C6"/>
                </a:solidFill>
                <a:highlight>
                  <a:srgbClr val="FFFFFF">
                    <a:alpha val="0"/>
                  </a:srgbClr>
                </a:highlight>
                <a:latin typeface="JetBrains Mono, Consolas, Courier New, monospace"/>
                <a:ea typeface="JetBrains Mono, Consolas, Courier New, monospace"/>
                <a:cs typeface="JetBrains Mono, Consolas, Courier New, monospace"/>
                <a:sym typeface="JetBrains Mono, Consolas, Courier New, monospace"/>
              </a:rPr>
              <a:t>)),</a:t>
            </a:r>
            <a:endParaRPr lang="en-US" altLang="en-US" sz="1300">
              <a:solidFill>
                <a:srgbClr val="C5C8C6"/>
              </a:solidFill>
              <a:highlight>
                <a:srgbClr val="FFFFFF">
                  <a:alpha val="0"/>
                </a:srgbClr>
              </a:highlight>
              <a:latin typeface="JetBrains Mono, Consolas, Courier New, monospace"/>
              <a:ea typeface="JetBrains Mono, Consolas, Courier New, monospace"/>
              <a:cs typeface="JetBrains Mono, Consolas, Courier New, monospace"/>
              <a:sym typeface="JetBrains Mono, Consolas, Courier New, monospac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CC0000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核心实现三：任务编排与异步执行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397000"/>
            <a:ext cx="10769600" cy="1651000"/>
          </a:xfrm>
          <a:prstGeom prst="roundRect">
            <a:avLst>
              <a:gd name="adj" fmla="val 0"/>
            </a:avLst>
          </a:prstGeom>
          <a:solidFill>
            <a:srgbClr val="F7F7F7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65200" y="1587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任务状态机全生命周期流转模型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159000"/>
            <a:ext cx="1460500" cy="584200"/>
          </a:xfrm>
          <a:prstGeom prst="roundRect">
            <a:avLst>
              <a:gd name="adj" fmla="val 0"/>
            </a:avLst>
          </a:prstGeom>
          <a:solidFill>
            <a:srgbClr val="CC0000">
              <a:alpha val="8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65200" y="2235200"/>
            <a:ext cx="1460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Pending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任务待执行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71744">
            <a:off x="2489359" y="2444750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69696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0" name="AutoShape 10"/>
          <p:cNvSpPr/>
          <p:nvPr/>
        </p:nvSpPr>
        <p:spPr>
          <a:xfrm>
            <a:off x="2806700" y="2159000"/>
            <a:ext cx="1460500" cy="584200"/>
          </a:xfrm>
          <a:prstGeom prst="roundRect">
            <a:avLst>
              <a:gd name="adj" fmla="val 0"/>
            </a:avLst>
          </a:prstGeom>
          <a:solidFill>
            <a:srgbClr val="CC0000">
              <a:alpha val="8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806700" y="2235200"/>
            <a:ext cx="1460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Running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攻击执行中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71744">
            <a:off x="4330859" y="2444750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69696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3" name="AutoShape 13"/>
          <p:cNvSpPr/>
          <p:nvPr/>
        </p:nvSpPr>
        <p:spPr>
          <a:xfrm>
            <a:off x="4648200" y="2159000"/>
            <a:ext cx="1460500" cy="584200"/>
          </a:xfrm>
          <a:prstGeom prst="roundRect">
            <a:avLst>
              <a:gd name="adj" fmla="val 0"/>
            </a:avLst>
          </a:prstGeom>
          <a:solidFill>
            <a:srgbClr val="CC0000">
              <a:alpha val="8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48200" y="2235200"/>
            <a:ext cx="1460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Defending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防御对抗中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71744">
            <a:off x="6172359" y="2444750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69696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6" name="AutoShape 16"/>
          <p:cNvSpPr/>
          <p:nvPr/>
        </p:nvSpPr>
        <p:spPr>
          <a:xfrm>
            <a:off x="6489700" y="2159000"/>
            <a:ext cx="1460500" cy="584200"/>
          </a:xfrm>
          <a:prstGeom prst="roundRect">
            <a:avLst>
              <a:gd name="adj" fmla="val 0"/>
            </a:avLst>
          </a:prstGeom>
          <a:solidFill>
            <a:srgbClr val="CC0000">
              <a:alpha val="8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89700" y="2235200"/>
            <a:ext cx="1460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Evaluating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效果评估中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71744">
            <a:off x="8013859" y="2444750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69696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9" name="AutoShape 19"/>
          <p:cNvSpPr/>
          <p:nvPr/>
        </p:nvSpPr>
        <p:spPr>
          <a:xfrm>
            <a:off x="8331200" y="2159000"/>
            <a:ext cx="1333500" cy="5842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331200" y="2235200"/>
            <a:ext cx="1333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Completed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执行完成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855200" y="2159000"/>
            <a:ext cx="1333500" cy="584200"/>
          </a:xfrm>
          <a:prstGeom prst="roundRect">
            <a:avLst>
              <a:gd name="adj" fmla="val 0"/>
            </a:avLst>
          </a:prstGeom>
          <a:solidFill>
            <a:srgbClr val="808080">
              <a:alpha val="8000"/>
            </a:srgbClr>
          </a:solidFill>
          <a:ln w="12700" cap="flat" cmpd="sng">
            <a:solidFill>
              <a:srgbClr val="8080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855200" y="2235200"/>
            <a:ext cx="1333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Failed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执行异常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1200" y="3619500"/>
            <a:ext cx="3429000" cy="2476500"/>
          </a:xfrm>
          <a:prstGeom prst="roundRect">
            <a:avLst>
              <a:gd name="adj" fmla="val 0"/>
            </a:avLst>
          </a:prstGeom>
          <a:solidFill>
            <a:srgbClr val="CC0000">
              <a:alpha val="4000"/>
            </a:srgbClr>
          </a:solidFill>
          <a:ln w="12700" cap="flat" cmpd="sng">
            <a:solidFill>
              <a:srgbClr val="CC0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01700" y="381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状态机驱动的生命周期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4323">
            <a:off x="901713" y="4311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01700" y="4445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采用有限状态机（FSM）模式管理任务全周期，状态跃迁由事件（如触发信号、结果回调）严格驱动。这种机制杜绝了状态紊乱，确保了从任务初始化到最终结果输出的流程时序绝对可控，是系统可靠性的基石。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381500" y="3619500"/>
            <a:ext cx="3429000" cy="2476500"/>
          </a:xfrm>
          <a:prstGeom prst="roundRect">
            <a:avLst>
              <a:gd name="adj" fmla="val 0"/>
            </a:avLst>
          </a:prstGeom>
          <a:solidFill>
            <a:srgbClr val="CC0000">
              <a:alpha val="4000"/>
            </a:srgbClr>
          </a:solidFill>
          <a:ln w="12700" cap="flat" cmpd="sng">
            <a:solidFill>
              <a:srgbClr val="CC0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4572000" y="381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异步化调度与高并发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4323">
            <a:off x="4572013" y="4311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4572000" y="4445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后台线程池实现任务的完全异步执行，彻底解耦主API进程，消除阻塞风险。核心编排器串联攻击、防御、评估等模块，支持动态追加进化后的新任务，形成自动化的多轮攻防闭环，显著提升系统的并发吞吐能力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051800" y="3619500"/>
            <a:ext cx="3429000" cy="2476500"/>
          </a:xfrm>
          <a:prstGeom prst="roundRect">
            <a:avLst>
              <a:gd name="adj" fmla="val 0"/>
            </a:avLst>
          </a:prstGeom>
          <a:solidFill>
            <a:srgbClr val="CC0000">
              <a:alpha val="4000"/>
            </a:srgbClr>
          </a:solidFill>
          <a:ln w="12700" cap="flat" cmpd="sng">
            <a:solidFill>
              <a:srgbClr val="CC0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242300" y="381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工程实践与架构价值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14323">
            <a:off x="8242313" y="4311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8242300" y="4445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了从“线性执行”到“异步编排”的架构升级，解决了高并发场景下的性能瓶颈。通过状态持久化与失败重试机制保障任务鲁棒性，不仅体现了对分布式系统设计的深刻理解，也为系统的自动化、智能化演进奠定了坚实的工程基础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其他关键实现：平台支撑模块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运行支撑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5080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模块：</a:t>
            </a:r>
            <a:r>
              <a:rPr lang="en-US" sz="14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统一封装大模型调用能力，支持攻击样本生成、攻击突变和检测辅助判断。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Targets 模块：</a:t>
            </a:r>
            <a:r>
              <a:rPr lang="en-US" sz="14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管理被测目标 Agent 的动作规划、工具调用与沙箱执行。</a:t>
            </a:r>
            <a:endParaRPr lang="en-US" sz="1400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EventBus 模块：</a:t>
            </a:r>
            <a:r>
              <a:rPr lang="en-US" sz="14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统一组织攻击请求、检测反馈、审计日志等事件流转，降低模块耦合。</a:t>
            </a:r>
            <a:endParaRPr lang="en-US" sz="1400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350000" y="177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数据与观测支撑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2413000"/>
            <a:ext cx="5080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Storage 模块：</a:t>
            </a:r>
            <a:r>
              <a:rPr lang="en-US" sz="14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持久化任务、攻击样本、检测结果、审计事件和评估报告。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Observability 模块：</a:t>
            </a:r>
            <a:r>
              <a:rPr lang="en-US" sz="14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记录执行过程中的关键轨迹与审计信息，支持时间线展示与过程复盘。</a:t>
            </a:r>
            <a:endParaRPr lang="en-US" sz="1400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Evaluation 模块：</a:t>
            </a:r>
            <a:r>
              <a:rPr lang="en-US" sz="14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统计攻击成功率、检测率、阻断率等指标，并生成评估报告与 RedBench 基线对比。</a:t>
            </a:r>
            <a:endParaRPr lang="en-US" sz="1400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5842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以上模块共同构成了平台的支撑层，使系统具备</a:t>
            </a:r>
            <a:r>
              <a:rPr lang="en-US" sz="1600" b="1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可执行、可记录、可评估、可展示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的完整闭环能力。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762000"/>
            <a:ext cx="2540000" cy="2540000"/>
          </a:xfrm>
          <a:prstGeom prst="ellipse">
            <a:avLst/>
          </a:prstGeom>
          <a:solidFill>
            <a:srgbClr val="CC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715000"/>
            <a:ext cx="1524000" cy="1524000"/>
          </a:xfrm>
          <a:prstGeom prst="ellipse">
            <a:avLst/>
          </a:prstGeom>
          <a:solidFill>
            <a:srgbClr val="CC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项目功能演示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651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1200" y="16510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任务创建配置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11200" y="2222500"/>
            <a:ext cx="260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在可视化界面中配置评测任务元数据，灵活选择待评估的Agent节点、攻击策略模板及攻击参数，支持自定义场景编排。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71352">
            <a:off x="2616200" y="2470176"/>
            <a:ext cx="152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3467100" y="1651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67100" y="16510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自动化任务启动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67100" y="2222500"/>
            <a:ext cx="260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一键触发任务调度，系统自动初始化环境资源并下发指令，任务状态即时同步为“Running”，启动响应高效稳定。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71352">
            <a:off x="5372100" y="2470176"/>
            <a:ext cx="152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223000" y="1651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实时状态监控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2222500"/>
            <a:ext cx="260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基于WebSocket建立长连接，前端实时拉取执行日志与节点心跳，动态刷新进度条与关键指标，全程透明可视。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71352">
            <a:off x="8128000" y="2470176"/>
            <a:ext cx="152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978900" y="1651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978900" y="16510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多维度结果复盘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78900" y="2222500"/>
            <a:ext cx="260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任务结束后自动生成评估报告，涵盖攻击成功率、防御拦截详情及审计事件溯源，支持数据导出与深度分析。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1200" y="3810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11200" y="6096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支持自定义攻击参数，提供丰富的策略组合，满足多样化的评测需求。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81500" y="3810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381500" y="6096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毫秒级状态同步，直观呈现任务执行节点，便于实时监控与异常排查。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51800" y="3810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051800" y="6096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自动生成多维度评估报表，数据可视化呈现，支持报告导出与历史回溯。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050" y="3902720"/>
            <a:ext cx="3035300" cy="203706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3454" y="4235503"/>
            <a:ext cx="3266546" cy="148254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369" y="3902720"/>
            <a:ext cx="2118412" cy="2037060"/>
          </a:xfrm>
          <a:prstGeom prst="roundRect">
            <a:avLst>
              <a:gd name="adj" fmla="val 5781"/>
            </a:avLst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0494" y="1317880"/>
            <a:ext cx="4510244" cy="483908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72" y="1219200"/>
            <a:ext cx="4688293" cy="29058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72" y="4346866"/>
            <a:ext cx="6131739" cy="217866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项目功能演示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技术难点与解决方案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651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01700" y="19558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红蓝对抗耗时长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01700" y="2413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为了保证检测的正确性、全面性，同时兼顾平台检测运行的时效性，要怎么做可以减少运行耗时？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017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01700" y="3352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解决方案：异步执行突变任务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双总线结构</a:t>
            </a:r>
            <a:endParaRPr 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901700" y="4000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当某轮攻击未成功且满足进化条件时，系统不会等到下一次出队时才生成新提示词，而是会立即将 mutation task 提交到后台线程池异步执行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使用慢总线进行数据存储相关工作，快总线进行红蓝对抗主要功能。</a:t>
            </a:r>
            <a:endParaRPr lang="en-US" sz="14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901700" y="5207000"/>
            <a:ext cx="3048000" cy="609600"/>
          </a:xfrm>
          <a:prstGeom prst="roundRect">
            <a:avLst>
              <a:gd name="adj" fmla="val 0"/>
            </a:avLst>
          </a:prstGeom>
          <a:solidFill>
            <a:srgbClr val="CC00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96950" y="5130800"/>
            <a:ext cx="2857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成效：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实现红蓝对抗耗时部分减少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1651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72000" y="19558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攻击</a:t>
            </a: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状态不稳定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2413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如何模拟真实黑客的迭代攻击行为，避免单次攻击失败即终止，实现多轮次的攻击尝试？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323">
            <a:off x="45720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72000" y="3352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解决方案：Mutation Task 回流机制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72000" y="37592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建立“攻击-反馈-变异”闭环，攻击失败后动态生成新的变异任务，异步回流至任务队列，由编排器重新调度执行。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72000" y="4889500"/>
            <a:ext cx="3048000" cy="812800"/>
          </a:xfrm>
          <a:prstGeom prst="roundRect">
            <a:avLst>
              <a:gd name="adj" fmla="val 0"/>
            </a:avLst>
          </a:prstGeom>
          <a:solidFill>
            <a:srgbClr val="CC00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673600" y="5003800"/>
            <a:ext cx="2857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成效：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高度还原攻击者的渗透思路，突破静态防御的局限性，大幅提升了安全评测的深度与漏洞挖掘的成功率。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51800" y="1651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0518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242300" y="19558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实时状态监控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42300" y="2413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在高并发任务执行场景下，如何让前端实时感知后端任务状态变化，避免延迟与资源浪费？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4323">
            <a:off x="82423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242300" y="3352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解决方案：WebSocket 主动推送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42300" y="37592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采用全双工通信模式替代传统HTTP轮询，后端状态变更时主动向客户端推送任务快照，确保数据实时同步。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242300" y="4889500"/>
            <a:ext cx="3048000" cy="812800"/>
          </a:xfrm>
          <a:prstGeom prst="roundRect">
            <a:avLst>
              <a:gd name="adj" fmla="val 0"/>
            </a:avLst>
          </a:prstGeom>
          <a:solidFill>
            <a:srgbClr val="CC00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343900" y="5003800"/>
            <a:ext cx="2857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成效：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实现毫秒级状态更新，降低了服务器的轮询压力，同时为用户提供了流畅、即时的任务监控体验。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CC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588000"/>
            <a:ext cx="1524000" cy="1524000"/>
          </a:xfrm>
          <a:prstGeom prst="ellipse">
            <a:avLst/>
          </a:prstGeom>
          <a:solidFill>
            <a:srgbClr val="CC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711200"/>
            <a:ext cx="1076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20320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项目总结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2667000"/>
            <a:ext cx="584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完成面向AI Agent安全评测的</a:t>
            </a:r>
            <a:r>
              <a:rPr lang="en-US" sz="16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红蓝对抗平台原型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开发，实现了攻击生成、蓝队检测、任务异步编排、态势实时监控及自动化评估报告等核心功能，端到端业务主链路已全量打通，系统运行稳定，具备完整的演示与答辩核验价值。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7473">
            <a:off x="711207" y="4184650"/>
            <a:ext cx="584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711200" y="43815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未来展望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" y="5016500"/>
            <a:ext cx="584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持续迭代攻击生成与检测算法，提升对抗样本的多样性与检测精准度；扩展多模态Agent、自主智能体集群等复杂评测场景；优化异步调度与数据存储架构，进一步提升系统的高并发承载能力与评测效率。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0" y="2032000"/>
            <a:ext cx="4368800" cy="2413000"/>
          </a:xfrm>
          <a:prstGeom prst="roundRect">
            <a:avLst>
              <a:gd name="adj" fmla="val 0"/>
            </a:avLst>
          </a:prstGeom>
          <a:solidFill>
            <a:srgbClr val="F7F7F7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112000" y="2032000"/>
            <a:ext cx="43688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302500" y="2413000"/>
            <a:ext cx="39878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平台核心架构预览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集成“任务总览、态势大屏、报告中心”三大核心模块，支持可视化的攻防策略配置与全流程结果回溯，为AI Agent的安全能力评估提供直观、量化的技术支撑。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112000" y="4889500"/>
            <a:ext cx="43688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感谢聆听，欢迎提问！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 请各位老师批评指正 —</a:t>
            </a:r>
            <a:endParaRPr lang="en-US" sz="1600" b="0" i="0" u="none" strike="noStrike">
              <a:solidFill>
                <a:srgbClr val="CC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2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3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4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5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6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7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8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9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10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11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12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13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14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15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16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17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18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19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ags/tag20.xml><?xml version="1.0" encoding="utf-8"?>
<p:tagLst xmlns:p="http://schemas.openxmlformats.org/presentationml/2006/main">
  <p:tag name="KSO_WM_DIAGRAM_VIRTUALLY_FRAME" val="{&quot;height&quot;:476.5,&quot;left&quot;:512.9622834645669,&quot;top&quot;:33.5,&quot;width&quot;:426.5000000000001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8839</Words>
  <Application>WPS 演示</Application>
  <PresentationFormat/>
  <Paragraphs>391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JetBrains Mono, Consolas, Courier New, monospace</vt:lpstr>
      <vt:lpstr>Segoe Print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怕黑的孩子</cp:lastModifiedBy>
  <cp:revision>6</cp:revision>
  <dcterms:created xsi:type="dcterms:W3CDTF">2026-07-10T00:07:00Z</dcterms:created>
  <dcterms:modified xsi:type="dcterms:W3CDTF">2026-07-10T02:38:13Z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{"Label":"1","ContentProducer":"001191110102MACQD9K64010000","ProduceID":"7660682969275468999","ReservedCode1":"","ContentPropagator":"","PropagateID":"","ReservedCode2":""}</vt:lpwstr>
  </property>
  <property fmtid="{D5CDD505-2E9C-101B-9397-08002B2CF9AE}" pid="3" name="ICV">
    <vt:lpwstr>8C74EF77024F403697BCE5D46A30ACB4_13</vt:lpwstr>
  </property>
  <property fmtid="{D5CDD505-2E9C-101B-9397-08002B2CF9AE}" pid="4" name="KSOProductBuildVer">
    <vt:lpwstr>2052-12.1.0.26895</vt:lpwstr>
  </property>
</Properties>
</file>